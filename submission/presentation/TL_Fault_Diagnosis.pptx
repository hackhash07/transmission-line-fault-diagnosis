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solidFill>
            <a:srgbClr val="1B3A6B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Transmission-Line Fault Diagnosis
and Impedance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109167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999"/>
              </a:spcAft>
            </a:pPr>
            <a:r>
              <a:rPr sz="2000">
                <a:solidFill>
                  <a:srgbClr val="D0E0FF"/>
                </a:solidFill>
              </a:rPr>
              <a:t>Virtual Software Prototype | Microwave &amp; Transmission-Line Engineering</a:t>
            </a:r>
          </a:p>
          <a:p>
            <a:pPr>
              <a:spcAft>
                <a:spcPts val="3999"/>
              </a:spcAft>
            </a:pPr>
            <a:r>
              <a:rPr sz="2000">
                <a:solidFill>
                  <a:srgbClr val="D0E0FF"/>
                </a:solidFill>
              </a:rPr>
              <a:t>Team: Member 1, Member 2, Member 3, Member 4, Member 5</a:t>
            </a:r>
          </a:p>
          <a:p>
            <a:pPr>
              <a:spcAft>
                <a:spcPts val="3999"/>
              </a:spcAft>
            </a:pPr>
            <a:r>
              <a:rPr sz="2000">
                <a:solidFill>
                  <a:srgbClr val="D0E0FF"/>
                </a:solidFill>
              </a:rPr>
              <a:t>Date: 29 October 2026 | Submission: 15 November 2026 | Showcase: 16 November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FFB74D"/>
                </a:solidFill>
              </a:rPr>
              <a:t>⚠️  Academic Integrity Notice: Simulated results only. Never described as hardware measurements.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48640" y="3291840"/>
            <a:ext cx="11091672" cy="3017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1672" cy="16459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Abstract &amp; Objectives</a:t>
            </a:r>
          </a:p>
          <a:p>
            <a:r>
              <a:rPr sz="1400">
                <a:solidFill>
                  <a:srgbClr val="555555"/>
                </a:solidFill>
              </a:rPr>
              <a:t>Executive project summary and core technical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Project Abstract: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An autonomous simulation suite that models distributed transmission lines, synthesizes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six canonical fault states with optional noise, classifies fault types via rule-based S11 features,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estimates physical fault location using IFFT reflectometry, and synthesizes matching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Key Engineering Objectives: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Model high-frequency transmission lines via closed-form and ABCD matrix cascades (1e-9 error)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Synthesize 6 fault scenarios: matched, resistive mismatch, open, short, series-L, and shunt-C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Isolate classifier input: rule-based decision tree receives ONLY S11 and frequency (zero truth leak)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Locate faults using windowed IFFT pseudo-time reflectometry with range resolution vp / (2B)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Synthesize quarter-wave transformers with exact cancellation at f0 and bandwidth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Problem Statement &amp; Working Principle</a:t>
            </a:r>
          </a:p>
          <a:p>
            <a:r>
              <a:rPr sz="1400">
                <a:solidFill>
                  <a:srgbClr val="555555"/>
                </a:solidFill>
              </a:rPr>
              <a:t>Significance of line discontinuities and single-port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Problem Statement: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Transmission-line faults degrade signal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integrity and reflect RF power.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Open/short damage circuits; reactive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nicks and solder bridges distort pulses.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Physical lines are embedded in conduits;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destructive inspection is prohibitive.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Challenge: Detect fault mode and precise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location from single-port S11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Working Principle: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Vector Network Analyzer sweeps input port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measuring complex S11 across 1–5 GHz.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Wave reflections carry unique spectral and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phase signatures of the discontinuity.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Windowed IFFT transforms S11(f) to pseudo-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time domain: peak delay t gives d = vp·t/2.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Quarter-wave section (Zt = sqrt(Z0·RL))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cancels real mismatch at design frequency.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Theory &amp; Key Equations</a:t>
            </a:r>
          </a:p>
          <a:p>
            <a:r>
              <a:rPr sz="1400">
                <a:solidFill>
                  <a:srgbClr val="555555"/>
                </a:solidFill>
              </a:rPr>
              <a:t>Foundational electromagnetic relationships (Pozar, Ch. 2 &amp;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Line Equations &amp; Wave Propagation: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Propagation constant:  γ = α + jβ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Phase constant:  β = 2πf / vp,  vp = VF · c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Input Impedance (Closed-Form):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  Zin = Z0 · (ZL + Z0 tanh γl) / (Z0 + ZL tanh γl)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Reference Plane: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  All Zin and S11 referred to input port (z = 0)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Singularities handled gracefully: tanh 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Reflection &amp; Matching Metrics: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Reflection Coeff:  Γ = (Zin - Z0) / (Zin + Z0)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Voltage Standing Wave Ratio (VSWR):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  VSWR = (1 + |Γ|) / (1 - |Γ|)  [capped at 1e6]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Return Loss:  RL = -20 log10 |Γ|  [dB, floor 1e-9]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Quarter-Wave Transformer (real RL &gt; 0):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  Zt = sqrt(Z0 · RL),   lt = vp / (4 f0)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TDR Range Resolution:  Δd = vp / (2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48640" y="3749039"/>
            <a:ext cx="11091672" cy="2560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1672" cy="21031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Circuit Model &amp; Assumptions</a:t>
            </a:r>
          </a:p>
          <a:p>
            <a:r>
              <a:rPr sz="1400">
                <a:solidFill>
                  <a:srgbClr val="555555"/>
                </a:solidFill>
              </a:rPr>
              <a:t>Cascaded transmission-line segments and lumped discontinuity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Cascaded 2-Port ABCD Architecture: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[Source Port Z0] ── [TL Segment 1 (d)] ── [Discontinuity] ── [TL Segment 2 (l - d)] ── [Load ZL]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Total Cascade: M_total = M_segment1 · M_discontinuity · M_segment2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Uniform TL: A = D = cosh(γl),  B = Z0 sinh(γl),  C = sinh(γl) / Z0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Series-L: [1, jωL; 0, 1]  |  Shunt-C: [1, 0; jωC, 1]  |  Closed-form verified to 1e-9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Physical Model Assumptions &amp; Boundary Conditions: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Dispersionless line: velocity factor VF constant across sweep bandwidth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Discontinuities are lumped single faults (series inductor or shunt capacitor)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Boundary conditions: Open (ZL = 1e9 Ω), Short (ZL = 1e-6 Ω), Matched (ZL = Z0)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Attenuation constant α = 0 (lossless default; lossy tanh(γl) available in core model)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Independent additive complex Gaussian noise: S11_meas = S11 + N(0, σ/sqrt(2)) + j N(0, σ/sqrt(2))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Software Architecture</a:t>
            </a:r>
          </a:p>
          <a:p>
            <a:r>
              <a:rPr sz="1400">
                <a:solidFill>
                  <a:srgbClr val="555555"/>
                </a:solidFill>
              </a:rPr>
              <a:t>Modular decoupled design: headless simulation, analysis, 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Core Processing Engine (src/):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model.py: Z_in, ABCD, Γ, VSWR, RL sweeps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simulate.py: 6 fault scenarios, cascades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diagnose.py: Rule-based classifier (S11 only)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locate.py: IFFT TDR + phase slope estimators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matching.py: Quarter-wave transformer &amp; BW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metrics.py: Confusion matrix, reports, CSVs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plots.py: Headless Matplotlib figures (F1–F8)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validation_experiment.py: End-to-end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Application &amp; Verification Layer: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app/dashboard.py: Streamlit interactive UI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Direct visualizer calling src/ core modules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run_all.py: Single-command orchestrator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Automated testing, validation, PPTX build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tests/: Unit test suite (56 tests, 100% pass)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Strict contract: diagnose receives no labels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results/csv/: All raw CSV data persisted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presentation/: Automated PPTX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548640" y="1463040"/>
            <a:ext cx="11091672" cy="48463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Design Steps (Assembly Sequence)</a:t>
            </a:r>
          </a:p>
          <a:p>
            <a:r>
              <a:rPr sz="1400">
                <a:solidFill>
                  <a:srgbClr val="555555"/>
                </a:solidFill>
              </a:rPr>
              <a:t>Step-by-step engineering execution from electromagnetic theory to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Phase-Gated Engineering Workflow: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1. Formulation: Derive closed-form Zin and 2-port ABCD transmission matrices.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2. Gate P1 (Unit Testing): Implement 56 unit tests; verify ABCD vs closed-form to 1e-9.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3. Scenario Generation: Synthesize 6 fault classes with realistic physical parameters.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4. Feature Extraction: Compute |S11| trend, phase slope, and de-embedded reflection planes.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5. Gate P2 (Simulation &amp; Plots): Generate headless multi-panel sweeps and Smith charts.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6. Gate P3 (Diagnosis &amp; Location): IFFT peak location and rule-based classification on held-out test sets.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7. Matching Synthesis: Compute quarter-wave transformers, evaluate 20-dB return loss bandwidth.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8. Gate P4/P5 (Integration &amp; Verification): Streamlit dashboard and run_all.py automated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Six Fault Scenarios – Sweep Results</a:t>
            </a:r>
          </a:p>
          <a:p>
            <a:r>
              <a:rPr sz="1400">
                <a:solidFill>
                  <a:srgbClr val="555555"/>
                </a:solidFill>
              </a:rPr>
              <a:t>Magnitude and phase response across 1–5 GHz (Z0 = 50 Ω, l = 30 cm, VF = 0.66)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2062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Six Canonical Scenarios: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healthy_matched: |Γ| ≈ 0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wrong_load: flat moderate |Γ|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open_circuit: |Γ| ≈ 1, 0° phase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short_circuit: |Γ| ≈ 1, 180° phase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series_L: rising |Γ|, inductive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shunt_C: rising |Γ|, capacitive</a:t>
            </a:r>
          </a:p>
        </p:txBody>
      </p:sp>
      <p:pic>
        <p:nvPicPr>
          <p:cNvPr id="4" name="Picture 3" descr="F7_gamma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675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7680960" y="1280160"/>
            <a:ext cx="393192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|Γ|, VSWR, and Return Loss</a:t>
            </a:r>
          </a:p>
          <a:p>
            <a:r>
              <a:rPr sz="1400">
                <a:solidFill>
                  <a:srgbClr val="555555"/>
                </a:solidFill>
              </a:rPr>
              <a:t>Simulated reflection metrics across all six canonical scenarios (Figure F1)</a:t>
            </a:r>
          </a:p>
        </p:txBody>
      </p:sp>
      <p:pic>
        <p:nvPicPr>
          <p:cNvPr id="3" name="Picture 2" descr="F1_scenario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858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5661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Key Metric Observations: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Matched Line (Green):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VSWR = 1.0, RL &gt; 50 dB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Total Reflection (Red/Orange):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VSWR capped at 1e6, RL ≈ 0 dB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Reactive Discontinuities: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Return loss degrades monotonically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as frequency increases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Wrong Load (Blue):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Constant return loss (~9.5 dB for 2:1)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7040880" y="1280160"/>
            <a:ext cx="457200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Smith Chart Analysis</a:t>
            </a:r>
          </a:p>
          <a:p>
            <a:r>
              <a:rPr sz="1400">
                <a:solidFill>
                  <a:srgbClr val="555555"/>
                </a:solidFill>
              </a:rPr>
              <a:t>Input reflection coefficient Γ_in traces across frequency (Figure F2)</a:t>
            </a:r>
          </a:p>
        </p:txBody>
      </p:sp>
      <p:pic>
        <p:nvPicPr>
          <p:cNvPr id="3" name="Picture 2" descr="F2_smi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21792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463040"/>
            <a:ext cx="42062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Smith Chart Polar Behavior: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Center (0, 0): Perfect match (healthy)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Outer Perimeter (|Γ| = 1):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Pure reactive boundaries (open / short)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Clockwise Trajectory: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Traces rotate clockwise toward generator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as electrical length βl increases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Series-L vs Shunt-C: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Rotate through upper vs lower reactance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circles respectively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858000" y="1280160"/>
            <a:ext cx="475488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Fault Diagnosis &amp; Location</a:t>
            </a:r>
          </a:p>
          <a:p>
            <a:r>
              <a:rPr sz="1400">
                <a:solidFill>
                  <a:srgbClr val="555555"/>
                </a:solidFill>
              </a:rPr>
              <a:t>Rule-based classification and time-domain reflectometry (Figures F4 &amp; F5)</a:t>
            </a:r>
          </a:p>
        </p:txBody>
      </p:sp>
      <p:pic>
        <p:nvPicPr>
          <p:cNvPr id="3" name="Picture 2" descr="F4_location_if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2377440"/>
          </a:xfrm>
          <a:prstGeom prst="rect">
            <a:avLst/>
          </a:prstGeom>
        </p:spPr>
      </p:pic>
      <p:pic>
        <p:nvPicPr>
          <p:cNvPr id="4" name="Picture 3" descr="F5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603504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463040"/>
            <a:ext cx="43891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Diagnosis Performance (Acc: 95.3%):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Features: |S11| trend, mean, de-embedded plane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100% precision on matched, wrong_load, open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IFFT Location Method (Primary):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Windowed Hann IFFT: peak time gives d = vp·t/2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Sub-centimeter accuracy for point faults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Phase-Slope Method (Cross-Check):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d = -vp/(4π) · (dφ/df)  [biased for L/C faults]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7406640" y="1280160"/>
            <a:ext cx="420624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Quarter-Wave Matching Synthesis</a:t>
            </a:r>
          </a:p>
          <a:p>
            <a:r>
              <a:rPr sz="1400">
                <a:solidFill>
                  <a:srgbClr val="555555"/>
                </a:solidFill>
              </a:rPr>
              <a:t>Impedance transformation for real loads and bandwidth trade-off (Figures F3 &amp; F8)</a:t>
            </a:r>
          </a:p>
        </p:txBody>
      </p:sp>
      <p:pic>
        <p:nvPicPr>
          <p:cNvPr id="3" name="Picture 2" descr="F3_matching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2468880"/>
          </a:xfrm>
          <a:prstGeom prst="rect">
            <a:avLst/>
          </a:prstGeom>
        </p:spPr>
      </p:pic>
      <p:pic>
        <p:nvPicPr>
          <p:cNvPr id="4" name="Picture 3" descr="F8_matching_band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65836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Matching Transformer Design: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Load RL = 150 Ω (3:1 mismatch):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Zt = sqrt(50 · 150) = 86.60 Ω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lt = vp / (4 f0) = 2.47 cm at 2 GHz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Exact match at f0: |Γ| = 0, RL -&gt; ∞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Usable Bandwidth (RL ≥ 20 dB):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Bandwidth shrinks as mismatch ratio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ZL / Z0 increases (Pozar eq. 5.11)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Complex loads rejected with clear 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548640" y="1280160"/>
            <a:ext cx="539496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Validation &amp; Noise Study</a:t>
            </a:r>
          </a:p>
          <a:p>
            <a:r>
              <a:rPr sz="1400">
                <a:solidFill>
                  <a:srgbClr val="555555"/>
                </a:solidFill>
              </a:rPr>
              <a:t>Rigorous evaluation on held-out randomized test set (Figures F6)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Held-Out Test Set Metrics (σ = 0.02):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Overall Classification Accuracy: 95.3%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healthy_matched : 100% precision, 100% recall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wrong_load      : 100% precision, 100% recall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open_circuit    : 100% precision, 100% recall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short_circuit   :  97% precision, 100% recall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series_L        :  98% precision,  98% recall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shunt_C         : 100% precision,  66% recall*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*Large C (50 pF) acts as virtual short at 5 GHz</a:t>
            </a:r>
          </a:p>
        </p:txBody>
      </p:sp>
      <p:pic>
        <p:nvPicPr>
          <p:cNvPr id="5" name="Picture 4" descr="F6_accuracy_vs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F2547"/>
                </a:solidFill>
              </a:rPr>
              <a:t>Team Contributions &amp; Limitations</a:t>
            </a:r>
          </a:p>
          <a:p>
            <a:r>
              <a:rPr sz="1400">
                <a:solidFill>
                  <a:srgbClr val="555555"/>
                </a:solidFill>
              </a:rPr>
              <a:t>Responsibility matrix, academic disclosure, and known system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Module Ownership Matrix: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Member 1: model.py, simulate.py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[OWNS: Model | REVIEWS: Classifier | PRESENTS]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Member 2: diagnose.py, metrics.py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[OWNS: Classifier | REVIEWS: Location | PRESENTS]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Member 3: locate.py, validation_experiment.py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[OWNS: Location | REVIEWS: Matching | PRESENTS]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Member 4: matching.py, plots.py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[OWNS: Matching | REVIEWS: Model | PRESENTS]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Member 5: dashboard.py, PPTX, README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[OWNS: Assembly/UI | REVIEWS: Plots | PRESENTS]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463040"/>
            <a:ext cx="49377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AI Disclosure &amp; Project Limitations: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AI Assistance Disclosure: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Algorithm scaffolding and structure generated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with AI assistance; verified by team members.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• Known Limitations: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Single-fault assumption (multi-faults future work)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Pure real load constraint for quarter-wave matching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Very large shunt-C (&gt;30 pF) inseparably resembles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  a short circuit at microwave frequencies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212121"/>
                </a:solidFill>
              </a:rPr>
              <a:t>  – Attenuation α set to 0 by default (lossless assumption)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1B3A6B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1B3A6B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Key Project Conclusions: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✓ Closed-form and ABCD cascade equivalence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rigorously verified to 1e-9 tolerance.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✓ 6 canonical fault scenarios successfully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simulated and visually differentiated.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✓ Rule-based classifier achieves &gt; 95% accuracy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without access to ground-truth labels.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✓ IFFT reflectometry reliably pinpoints fault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positions within range resolution limit.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✓ Quarter-wave transformer exactly matched at f0.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Roadmap &amp; Future Extensions: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• Single-stub and double-stub matching for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complex and reactive load impedances.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• Machine-learning classifier (SVM / 1D-CNN)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for multi-fault discrimination.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• Lossy transmission lines with measured α(f).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• Independent cross-verification using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  scikit-rf (skrf) network cascades.</a:t>
            </a:r>
          </a:p>
          <a:p>
            <a:pPr>
              <a:spcAft>
                <a:spcPts val="3599"/>
              </a:spcAft>
            </a:pPr>
            <a:r>
              <a:rPr sz="1800">
                <a:solidFill>
                  <a:srgbClr val="FFFFFF"/>
                </a:solidFill>
              </a:rPr>
              <a:t>• Headless automated dashboard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